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4" r:id="rId5"/>
    <p:sldId id="260" r:id="rId6"/>
    <p:sldId id="265" r:id="rId7"/>
    <p:sldId id="261" r:id="rId8"/>
    <p:sldId id="266" r:id="rId9"/>
    <p:sldId id="262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37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53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C7BE5-DFB9-EC57-A29D-518E7BF2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C3BFD-AEBE-4B59-B4D3-D23459D11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4F7E9E-0693-AD92-68C8-0CD9DEB32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FD114-DBCD-B2AF-6DEA-FFAEAEE145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43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7A174-8164-1B2B-603C-AA1A0A113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6B8388-8D11-4EBC-A147-BA9EDEDE6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F97DA-24E9-9C2E-0EAD-D1316F0F5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472C1-D9FB-FF3E-8598-FC2C0645E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48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AECB5-F5C1-31A6-4F78-889FD568F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8C6675-352D-4AE4-D13B-0A99FAD87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A11D1-460F-922D-F9D4-8F4E5477A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D4E0A-8E44-C4BA-04F2-A321E2752A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94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C9E3C-7F9E-EE59-48F5-E7005306F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18781-0E88-31BA-24F5-06CF0C6EB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D6AB8-24F5-AF34-2597-08426EC1D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7349B-5B89-FB75-B472-30ED4749C6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83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078963" cy="58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400" dirty="0">
                <a:solidFill>
                  <a:srgbClr val="0D9488"/>
                </a:solidFill>
              </a:rPr>
              <a:t>TP4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166016" cy="1876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Clasificando Informales en la EPH</a:t>
            </a:r>
            <a:endParaRPr lang="en-US" sz="40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F8BF6B3-CE6D-8131-C5D5-C598EB2E9D35}"/>
              </a:ext>
            </a:extLst>
          </p:cNvPr>
          <p:cNvSpPr txBox="1"/>
          <p:nvPr/>
        </p:nvSpPr>
        <p:spPr>
          <a:xfrm>
            <a:off x="374650" y="3336606"/>
            <a:ext cx="535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>
                    <a:lumMod val="85000"/>
                  </a:schemeClr>
                </a:solidFill>
              </a:rPr>
              <a:t>Máximo Hernán Gómez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· Enfoque y Datos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37490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9488"/>
                </a:solidFill>
              </a:rPr>
              <a:t>1T 2024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▸ </a:t>
            </a:r>
            <a:r>
              <a:rPr lang="en-US" sz="1300" dirty="0">
                <a:solidFill>
                  <a:srgbClr val="0F172A"/>
                </a:solidFill>
              </a:rPr>
              <a:t>14.910 observaciones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▸ </a:t>
            </a:r>
            <a:r>
              <a:rPr lang="en-US" sz="1300" dirty="0">
                <a:solidFill>
                  <a:srgbClr val="0F172A"/>
                </a:solidFill>
              </a:rPr>
              <a:t>Base: ocupados_X_2024 e y_2024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▸ </a:t>
            </a:r>
            <a:r>
              <a:rPr lang="en-US" sz="1300" dirty="0">
                <a:solidFill>
                  <a:srgbClr val="0F172A"/>
                </a:solidFill>
              </a:rPr>
              <a:t>30% reservado para testeo interno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731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983480" y="1159865"/>
            <a:ext cx="3749040" cy="687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</a:rPr>
              <a:t>1T 2025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▸ </a:t>
            </a:r>
            <a:r>
              <a:rPr lang="en-US" sz="1300" dirty="0">
                <a:solidFill>
                  <a:srgbClr val="0F172A"/>
                </a:solidFill>
              </a:rPr>
              <a:t>4.074 observaciones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423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▸ </a:t>
            </a:r>
            <a:r>
              <a:rPr lang="en-US" sz="1300" dirty="0">
                <a:solidFill>
                  <a:srgbClr val="0F172A"/>
                </a:solidFill>
              </a:rPr>
              <a:t>Base: ocupados_X_2025_MM e y_2025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926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B2A4A"/>
                </a:solidFill>
              </a:rPr>
              <a:t>▸ </a:t>
            </a:r>
            <a:r>
              <a:rPr lang="en-US" sz="1300" dirty="0">
                <a:solidFill>
                  <a:srgbClr val="0F172A"/>
                </a:solidFill>
              </a:rPr>
              <a:t>30% </a:t>
            </a:r>
            <a:r>
              <a:rPr lang="en-US" sz="1300" dirty="0" err="1">
                <a:solidFill>
                  <a:srgbClr val="0F172A"/>
                </a:solidFill>
              </a:rPr>
              <a:t>reservado</a:t>
            </a:r>
            <a:r>
              <a:rPr lang="en-US" sz="1300" dirty="0">
                <a:solidFill>
                  <a:srgbClr val="0F172A"/>
                </a:solidFill>
              </a:rPr>
              <a:t> para </a:t>
            </a:r>
            <a:r>
              <a:rPr lang="en-US" sz="1300" dirty="0" err="1">
                <a:solidFill>
                  <a:srgbClr val="0F172A"/>
                </a:solidFill>
              </a:rPr>
              <a:t>testeo</a:t>
            </a:r>
            <a:r>
              <a:rPr lang="en-US" sz="1300" dirty="0">
                <a:solidFill>
                  <a:srgbClr val="0F172A"/>
                </a:solidFill>
              </a:rPr>
              <a:t> </a:t>
            </a:r>
            <a:r>
              <a:rPr lang="en-US" sz="1300" dirty="0" err="1">
                <a:solidFill>
                  <a:srgbClr val="0F172A"/>
                </a:solidFill>
              </a:rPr>
              <a:t>interno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439412"/>
            <a:ext cx="841248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4462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</a:rPr>
              <a:t>Criterio de informalidad: propietarios de empresas ≤5 empleados, cuentapropistas no profesionales y trabajadores familiares no </a:t>
            </a:r>
            <a:r>
              <a:rPr lang="en-US" sz="1000" dirty="0" err="1">
                <a:solidFill>
                  <a:srgbClr val="1B2A4A"/>
                </a:solidFill>
              </a:rPr>
              <a:t>remunerados</a:t>
            </a:r>
            <a:r>
              <a:rPr lang="en-US" sz="1000" dirty="0">
                <a:solidFill>
                  <a:srgbClr val="1B2A4A"/>
                </a:solidFill>
              </a:rPr>
              <a:t>.</a:t>
            </a:r>
            <a:endParaRPr lang="en-US" sz="10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08BCBDA-8AFE-950F-4882-0215072C897B}"/>
              </a:ext>
            </a:extLst>
          </p:cNvPr>
          <p:cNvSpPr/>
          <p:nvPr/>
        </p:nvSpPr>
        <p:spPr>
          <a:xfrm>
            <a:off x="0" y="822960"/>
            <a:ext cx="139279" cy="43205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· Preparación de Variables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43200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7432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Variables eliminadas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• </a:t>
            </a:r>
            <a:r>
              <a:rPr lang="en-US" sz="1200" dirty="0">
                <a:solidFill>
                  <a:srgbClr val="0F172A"/>
                </a:solidFill>
              </a:rPr>
              <a:t>Redundantes o colineales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385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• </a:t>
            </a:r>
            <a:r>
              <a:rPr lang="en-US" sz="1200" dirty="0">
                <a:solidFill>
                  <a:srgbClr val="0F172A"/>
                </a:solidFill>
              </a:rPr>
              <a:t>Educativas → resumidas en educ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4323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• </a:t>
            </a:r>
            <a:r>
              <a:rPr lang="en-US" sz="1200" dirty="0">
                <a:solidFill>
                  <a:srgbClr val="0F172A"/>
                </a:solidFill>
              </a:rPr>
              <a:t>Horas → resumidas en horastrab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• </a:t>
            </a:r>
            <a:r>
              <a:rPr lang="en-US" sz="1200" dirty="0">
                <a:solidFill>
                  <a:srgbClr val="0F172A"/>
                </a:solidFill>
              </a:rPr>
              <a:t>Categorías no significativas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987551"/>
            <a:ext cx="2743200" cy="408706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383280" y="10424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Variables retenidas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444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• </a:t>
            </a:r>
            <a:r>
              <a:rPr lang="en-US" sz="1200" dirty="0">
                <a:solidFill>
                  <a:srgbClr val="0F172A"/>
                </a:solidFill>
              </a:rPr>
              <a:t>edad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9385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• </a:t>
            </a:r>
            <a:r>
              <a:rPr lang="en-US" sz="1200" dirty="0">
                <a:solidFill>
                  <a:srgbClr val="0F172A"/>
                </a:solidFill>
              </a:rPr>
              <a:t>educ (años de educación)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4323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• </a:t>
            </a:r>
            <a:r>
              <a:rPr lang="en-US" sz="1200" dirty="0">
                <a:solidFill>
                  <a:srgbClr val="0F172A"/>
                </a:solidFill>
              </a:rPr>
              <a:t>horastrab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• </a:t>
            </a:r>
            <a:r>
              <a:rPr lang="en-US" sz="1200" dirty="0">
                <a:solidFill>
                  <a:srgbClr val="0F172A"/>
                </a:solidFill>
              </a:rPr>
              <a:t>ingreso principal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4198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• </a:t>
            </a:r>
            <a:r>
              <a:rPr lang="en-US" sz="1200" dirty="0">
                <a:solidFill>
                  <a:srgbClr val="0F172A"/>
                </a:solidFill>
              </a:rPr>
              <a:t>categ. ocupacional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913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• </a:t>
            </a:r>
            <a:r>
              <a:rPr lang="en-US" sz="1200" dirty="0">
                <a:solidFill>
                  <a:srgbClr val="0F172A"/>
                </a:solidFill>
              </a:rPr>
              <a:t>Nª </a:t>
            </a:r>
            <a:r>
              <a:rPr lang="en-US" sz="1200" dirty="0" err="1">
                <a:solidFill>
                  <a:srgbClr val="0F172A"/>
                </a:solidFill>
              </a:rPr>
              <a:t>Integrantes</a:t>
            </a:r>
            <a:r>
              <a:rPr lang="en-US" sz="1200" dirty="0">
                <a:solidFill>
                  <a:srgbClr val="0F172A"/>
                </a:solidFill>
              </a:rPr>
              <a:t> del </a:t>
            </a:r>
            <a:r>
              <a:rPr lang="en-US" sz="1200" dirty="0" err="1">
                <a:solidFill>
                  <a:srgbClr val="0F172A"/>
                </a:solidFill>
              </a:rPr>
              <a:t>hogar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960120"/>
            <a:ext cx="2743200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126480" y="96012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263640" y="10424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Escalado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1444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• </a:t>
            </a:r>
            <a:r>
              <a:rPr lang="en-US" sz="1200" dirty="0" err="1">
                <a:solidFill>
                  <a:srgbClr val="0F172A"/>
                </a:solidFill>
              </a:rPr>
              <a:t>Estandarización</a:t>
            </a:r>
            <a:r>
              <a:rPr lang="en-US" sz="1200" dirty="0">
                <a:solidFill>
                  <a:srgbClr val="0F172A"/>
                </a:solidFill>
              </a:rPr>
              <a:t> </a:t>
            </a:r>
            <a:r>
              <a:rPr lang="en-US" sz="1200" dirty="0" err="1">
                <a:solidFill>
                  <a:srgbClr val="0F172A"/>
                </a:solidFill>
              </a:rPr>
              <a:t>estilo</a:t>
            </a:r>
            <a:r>
              <a:rPr lang="en-US" sz="1200" dirty="0">
                <a:solidFill>
                  <a:srgbClr val="0F172A"/>
                </a:solidFill>
              </a:rPr>
              <a:t> PCA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19385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• </a:t>
            </a:r>
            <a:r>
              <a:rPr lang="en-US" sz="1200" dirty="0">
                <a:solidFill>
                  <a:srgbClr val="0F172A"/>
                </a:solidFill>
              </a:rPr>
              <a:t>(x − media) / desvío estándar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24323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• </a:t>
            </a:r>
            <a:r>
              <a:rPr lang="en-US" sz="1200" dirty="0">
                <a:solidFill>
                  <a:srgbClr val="0F172A"/>
                </a:solidFill>
              </a:rPr>
              <a:t>Evita sobreestimar ingreso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• </a:t>
            </a:r>
            <a:r>
              <a:rPr lang="en-US" sz="1200" dirty="0">
                <a:solidFill>
                  <a:srgbClr val="0F172A"/>
                </a:solidFill>
              </a:rPr>
              <a:t>Odds ratio = efecto </a:t>
            </a:r>
            <a:r>
              <a:rPr lang="en-US" sz="1200" dirty="0" err="1">
                <a:solidFill>
                  <a:srgbClr val="0F172A"/>
                </a:solidFill>
              </a:rPr>
              <a:t>por</a:t>
            </a:r>
            <a:r>
              <a:rPr lang="en-US" sz="1200" dirty="0">
                <a:solidFill>
                  <a:srgbClr val="0F172A"/>
                </a:solidFill>
              </a:rPr>
              <a:t> 1std. dev</a:t>
            </a:r>
            <a:endParaRPr lang="en-US" sz="12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1ADC617-199B-8B0B-B51F-ED54EC2F2DDA}"/>
              </a:ext>
            </a:extLst>
          </p:cNvPr>
          <p:cNvSpPr/>
          <p:nvPr/>
        </p:nvSpPr>
        <p:spPr>
          <a:xfrm>
            <a:off x="0" y="822960"/>
            <a:ext cx="139279" cy="43205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EB711464-749B-9693-F142-97BBD28BB3D4}"/>
              </a:ext>
            </a:extLst>
          </p:cNvPr>
          <p:cNvSpPr/>
          <p:nvPr/>
        </p:nvSpPr>
        <p:spPr>
          <a:xfrm>
            <a:off x="3407199" y="4373537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• </a:t>
            </a:r>
            <a:r>
              <a:rPr lang="en-US" sz="1200" dirty="0">
                <a:solidFill>
                  <a:srgbClr val="0F172A"/>
                </a:solidFill>
              </a:rPr>
              <a:t>Nª </a:t>
            </a:r>
            <a:r>
              <a:rPr lang="en-US" sz="1200" dirty="0" err="1">
                <a:solidFill>
                  <a:srgbClr val="0F172A"/>
                </a:solidFill>
              </a:rPr>
              <a:t>trab</a:t>
            </a:r>
            <a:r>
              <a:rPr lang="en-US" sz="1200" dirty="0">
                <a:solidFill>
                  <a:srgbClr val="0F172A"/>
                </a:solidFill>
              </a:rPr>
              <a:t>. </a:t>
            </a:r>
            <a:r>
              <a:rPr lang="en-US" sz="1200" dirty="0" err="1">
                <a:solidFill>
                  <a:srgbClr val="0F172A"/>
                </a:solidFill>
              </a:rPr>
              <a:t>en</a:t>
            </a:r>
            <a:r>
              <a:rPr lang="en-US" sz="1200" dirty="0">
                <a:solidFill>
                  <a:srgbClr val="0F172A"/>
                </a:solidFill>
              </a:rPr>
              <a:t> </a:t>
            </a:r>
            <a:r>
              <a:rPr lang="en-US" sz="1200" dirty="0" err="1">
                <a:solidFill>
                  <a:srgbClr val="0F172A"/>
                </a:solidFill>
              </a:rPr>
              <a:t>ocup</a:t>
            </a:r>
            <a:r>
              <a:rPr lang="en-US" sz="1200" dirty="0">
                <a:solidFill>
                  <a:srgbClr val="0F172A"/>
                </a:solidFill>
              </a:rPr>
              <a:t>. </a:t>
            </a:r>
            <a:r>
              <a:rPr lang="en-US" sz="1200" dirty="0" err="1">
                <a:solidFill>
                  <a:srgbClr val="0F172A"/>
                </a:solidFill>
              </a:rPr>
              <a:t>princ</a:t>
            </a:r>
            <a:r>
              <a:rPr lang="en-US" sz="1200" dirty="0">
                <a:solidFill>
                  <a:srgbClr val="0F172A"/>
                </a:solidFill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1990C-AB0E-D5A2-538A-B292ECF71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">
            <a:extLst>
              <a:ext uri="{FF2B5EF4-FFF2-40B4-BE49-F238E27FC236}">
                <a16:creationId xmlns:a16="http://schemas.microsoft.com/office/drawing/2014/main" id="{4BDAFD86-3CC3-882B-4A01-DECD6C1783D7}"/>
              </a:ext>
            </a:extLst>
          </p:cNvPr>
          <p:cNvSpPr/>
          <p:nvPr/>
        </p:nvSpPr>
        <p:spPr>
          <a:xfrm>
            <a:off x="581338" y="1868792"/>
            <a:ext cx="5804926" cy="35790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AA836436-3866-052D-D783-54EFDA207F2B}"/>
              </a:ext>
            </a:extLst>
          </p:cNvPr>
          <p:cNvSpPr/>
          <p:nvPr/>
        </p:nvSpPr>
        <p:spPr>
          <a:xfrm>
            <a:off x="587396" y="960120"/>
            <a:ext cx="5804926" cy="7717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329D3A8-A95F-2343-30AA-A6EC80BE5D6E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D82B6A-D446-15F8-7196-DEDEE4EAC5F5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· Preparación de Variables</a:t>
            </a:r>
            <a:endParaRPr lang="en-US" sz="22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B48E444-5705-9CFD-D6E5-128EF4568301}"/>
              </a:ext>
            </a:extLst>
          </p:cNvPr>
          <p:cNvSpPr/>
          <p:nvPr/>
        </p:nvSpPr>
        <p:spPr>
          <a:xfrm>
            <a:off x="0" y="822960"/>
            <a:ext cx="139279" cy="43205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EEDCC30-C1C8-6CD2-593C-D2F7ACB660FF}"/>
              </a:ext>
            </a:extLst>
          </p:cNvPr>
          <p:cNvSpPr txBox="1"/>
          <p:nvPr/>
        </p:nvSpPr>
        <p:spPr>
          <a:xfrm>
            <a:off x="587396" y="974956"/>
            <a:ext cx="8271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Diferencia de medias: todas las variables muy similares exceptuando </a:t>
            </a:r>
            <a:r>
              <a:rPr lang="es-ES" sz="1200" b="1" dirty="0"/>
              <a:t>Ingreso Principal</a:t>
            </a:r>
          </a:p>
          <a:p>
            <a:endParaRPr lang="es-E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2024: $466.000              2025: $716.000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748ADA0-0F0B-49D7-B1B2-DEC0984D8E55}"/>
              </a:ext>
            </a:extLst>
          </p:cNvPr>
          <p:cNvSpPr txBox="1"/>
          <p:nvPr/>
        </p:nvSpPr>
        <p:spPr>
          <a:xfrm>
            <a:off x="587395" y="1925419"/>
            <a:ext cx="82719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Razón principal: recuperación de salarios reales para 1T 2025, luego de tocar piso en 2024</a:t>
            </a: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048B21BC-FE43-8412-9050-4B1115B60C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2"/>
          <a:stretch>
            <a:fillRect/>
          </a:stretch>
        </p:blipFill>
        <p:spPr>
          <a:xfrm>
            <a:off x="587394" y="2363583"/>
            <a:ext cx="4234977" cy="269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522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· Regresión Logística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</a:rPr>
              <a:t>Hallazgos comunes a ambos </a:t>
            </a:r>
            <a:r>
              <a:rPr lang="en-US" sz="1400" b="1" dirty="0" err="1">
                <a:solidFill>
                  <a:srgbClr val="1B2A4A"/>
                </a:solidFill>
              </a:rPr>
              <a:t>modelos</a:t>
            </a:r>
            <a:r>
              <a:rPr lang="en-US" sz="1400" b="1" dirty="0">
                <a:solidFill>
                  <a:srgbClr val="1B2A4A"/>
                </a:solidFill>
              </a:rPr>
              <a:t> (</a:t>
            </a:r>
            <a:r>
              <a:rPr lang="en-US" sz="1400" b="1" dirty="0" err="1">
                <a:solidFill>
                  <a:srgbClr val="1B2A4A"/>
                </a:solidFill>
              </a:rPr>
              <a:t>coeficientes</a:t>
            </a:r>
            <a:r>
              <a:rPr lang="en-US" sz="1400" b="1" dirty="0">
                <a:solidFill>
                  <a:srgbClr val="1B2A4A"/>
                </a:solidFill>
              </a:rPr>
              <a:t> #1 y #2)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9488"/>
                </a:solidFill>
              </a:rPr>
              <a:t>Categoría</a:t>
            </a:r>
            <a:r>
              <a:rPr lang="en-US" sz="1200" b="1" dirty="0">
                <a:solidFill>
                  <a:srgbClr val="0D9488"/>
                </a:solidFill>
              </a:rPr>
              <a:t> </a:t>
            </a:r>
            <a:r>
              <a:rPr lang="en-US" sz="1200" b="1" dirty="0" err="1">
                <a:solidFill>
                  <a:srgbClr val="0D9488"/>
                </a:solidFill>
              </a:rPr>
              <a:t>ocupacional</a:t>
            </a:r>
            <a:r>
              <a:rPr lang="en-US" sz="1200" b="1" dirty="0">
                <a:solidFill>
                  <a:srgbClr val="0D9488"/>
                </a:solidFill>
              </a:rPr>
              <a:t> (-2.46 y -2.00)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4680" y="146304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Mayor efecto — ser empleado o cuentapropista reduce odds de informalidad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4124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9488"/>
                </a:solidFill>
              </a:rPr>
              <a:t>Ingreso</a:t>
            </a:r>
            <a:r>
              <a:rPr lang="en-US" sz="1200" b="1" dirty="0">
                <a:solidFill>
                  <a:srgbClr val="0D9488"/>
                </a:solidFill>
              </a:rPr>
              <a:t> principal (0.30 y 0.14)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4680" y="210312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A mayor ingreso, menores chances de ser informal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D9488"/>
                </a:solidFill>
              </a:rPr>
              <a:t>Educación</a:t>
            </a:r>
            <a:r>
              <a:rPr lang="en-US" sz="1200" b="1" dirty="0">
                <a:solidFill>
                  <a:srgbClr val="0D9488"/>
                </a:solidFill>
              </a:rPr>
              <a:t> (-0.44 y -0.39)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54680" y="274320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Más años de educación → menos probabilidad de informalidad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84124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02920" y="3383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Probabilidad vs Ingreso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54680" y="338328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Relación lineal decreciente entre informalidad e ingreso principal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8640" y="3995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F172A"/>
                </a:solidFill>
              </a:rPr>
              <a:t>Diferencia</a:t>
            </a:r>
            <a:r>
              <a:rPr lang="en-US" sz="1300" b="1" dirty="0">
                <a:solidFill>
                  <a:srgbClr val="0F172A"/>
                </a:solidFill>
              </a:rPr>
              <a:t> entre </a:t>
            </a:r>
            <a:r>
              <a:rPr lang="en-US" sz="1300" b="1" dirty="0" err="1">
                <a:solidFill>
                  <a:srgbClr val="0F172A"/>
                </a:solidFill>
              </a:rPr>
              <a:t>modelos</a:t>
            </a:r>
            <a:r>
              <a:rPr lang="en-US" sz="1300" b="1" dirty="0">
                <a:solidFill>
                  <a:srgbClr val="0F172A"/>
                </a:solidFill>
              </a:rPr>
              <a:t>: </a:t>
            </a:r>
            <a:r>
              <a:rPr lang="en-US" sz="1300" b="1" dirty="0" err="1">
                <a:solidFill>
                  <a:srgbClr val="0F172A"/>
                </a:solidFill>
              </a:rPr>
              <a:t>edad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2793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Modelo 1: mayor edad → MENOS informal  |  Modelo 2: mayor edad → MÁS informal (cambio de signo). Agregar la columna de informalidad 2024 </a:t>
            </a:r>
            <a:r>
              <a:rPr lang="en-US" sz="1100" dirty="0" err="1">
                <a:solidFill>
                  <a:srgbClr val="0F172A"/>
                </a:solidFill>
              </a:rPr>
              <a:t>modificó</a:t>
            </a:r>
            <a:r>
              <a:rPr lang="en-US" sz="1100" dirty="0">
                <a:solidFill>
                  <a:srgbClr val="0F172A"/>
                </a:solidFill>
              </a:rPr>
              <a:t> </a:t>
            </a:r>
            <a:r>
              <a:rPr lang="en-US" sz="1100" dirty="0" err="1">
                <a:solidFill>
                  <a:srgbClr val="0F172A"/>
                </a:solidFill>
              </a:rPr>
              <a:t>el</a:t>
            </a:r>
            <a:r>
              <a:rPr lang="en-US" sz="1100" dirty="0">
                <a:solidFill>
                  <a:srgbClr val="0F172A"/>
                </a:solidFill>
              </a:rPr>
              <a:t> efecto de la edad.</a:t>
            </a:r>
            <a:endParaRPr lang="en-US" sz="11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1885943-9DE2-A3BA-B589-F9825302DD2A}"/>
              </a:ext>
            </a:extLst>
          </p:cNvPr>
          <p:cNvSpPr/>
          <p:nvPr/>
        </p:nvSpPr>
        <p:spPr>
          <a:xfrm>
            <a:off x="0" y="822960"/>
            <a:ext cx="139279" cy="43205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EFCD9-2C41-E4C0-90C5-99795782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>
            <a:extLst>
              <a:ext uri="{FF2B5EF4-FFF2-40B4-BE49-F238E27FC236}">
                <a16:creationId xmlns:a16="http://schemas.microsoft.com/office/drawing/2014/main" id="{D1312AAD-BCE5-5984-5C18-40D3495E51B7}"/>
              </a:ext>
            </a:extLst>
          </p:cNvPr>
          <p:cNvSpPr/>
          <p:nvPr/>
        </p:nvSpPr>
        <p:spPr>
          <a:xfrm>
            <a:off x="530538" y="988199"/>
            <a:ext cx="5804926" cy="35790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99BD647-B095-D506-1B89-983A514ED0FF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6AB383-15D2-5DB2-5B56-43D18B9B81BD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· Regresión Logística</a:t>
            </a:r>
            <a:endParaRPr lang="en-US" sz="22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3687550-6B39-D446-8FB6-212C88D3FF02}"/>
              </a:ext>
            </a:extLst>
          </p:cNvPr>
          <p:cNvSpPr/>
          <p:nvPr/>
        </p:nvSpPr>
        <p:spPr>
          <a:xfrm>
            <a:off x="0" y="822960"/>
            <a:ext cx="139279" cy="43205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C71C191F-3CDF-2514-0846-FD9BAB9CD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39371"/>
            <a:ext cx="4658302" cy="2982358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AA81C120-D876-2B09-F533-E4EB6471BC37}"/>
              </a:ext>
            </a:extLst>
          </p:cNvPr>
          <p:cNvSpPr txBox="1"/>
          <p:nvPr/>
        </p:nvSpPr>
        <p:spPr>
          <a:xfrm>
            <a:off x="596900" y="1017548"/>
            <a:ext cx="67500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F172A"/>
                </a:solidFill>
              </a:rPr>
              <a:t>Relación</a:t>
            </a:r>
            <a:r>
              <a:rPr lang="en-US" sz="1200" dirty="0">
                <a:solidFill>
                  <a:srgbClr val="0F172A"/>
                </a:solidFill>
              </a:rPr>
              <a:t> lineal </a:t>
            </a:r>
            <a:r>
              <a:rPr lang="en-US" sz="1200" dirty="0" err="1">
                <a:solidFill>
                  <a:srgbClr val="0F172A"/>
                </a:solidFill>
              </a:rPr>
              <a:t>decreciente</a:t>
            </a:r>
            <a:r>
              <a:rPr lang="en-US" sz="1200" dirty="0">
                <a:solidFill>
                  <a:srgbClr val="0F172A"/>
                </a:solidFill>
              </a:rPr>
              <a:t> entre </a:t>
            </a:r>
            <a:r>
              <a:rPr lang="en-US" sz="1200" dirty="0" err="1">
                <a:solidFill>
                  <a:srgbClr val="0F172A"/>
                </a:solidFill>
              </a:rPr>
              <a:t>informalidad</a:t>
            </a:r>
            <a:r>
              <a:rPr lang="en-US" sz="1200" dirty="0">
                <a:solidFill>
                  <a:srgbClr val="0F172A"/>
                </a:solidFill>
              </a:rPr>
              <a:t> e </a:t>
            </a:r>
            <a:r>
              <a:rPr lang="en-US" sz="1200" dirty="0" err="1">
                <a:solidFill>
                  <a:srgbClr val="0F172A"/>
                </a:solidFill>
              </a:rPr>
              <a:t>ingreso</a:t>
            </a:r>
            <a:r>
              <a:rPr lang="en-US" sz="1200" dirty="0">
                <a:solidFill>
                  <a:srgbClr val="0F172A"/>
                </a:solidFill>
              </a:rPr>
              <a:t> principal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23648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· Desempeño Predictivo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Métrica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20440" y="914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FBF1"/>
                </a:solidFill>
              </a:rPr>
              <a:t>Modelo 1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15000" y="914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Modelo 2 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Accuracy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0.943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15000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0.905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18120" y="148132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029968"/>
            <a:ext cx="841248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02920" y="2121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AUC-ROC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21214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0.962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15000" y="21214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0.982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818120" y="21396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Modelo 2 superior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688336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02920" y="277977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Recall informales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20440" y="277977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80%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15000" y="277977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70%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818120" y="279806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Modelo 1 superior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346704"/>
            <a:ext cx="841248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" y="34381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Falsos positivos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20440" y="34381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0.2% (23)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715000" y="34381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</a:rPr>
              <a:t>0.1% (3)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818120" y="345643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Modelo 2 mucho mejor</a:t>
            </a:r>
            <a:endParaRPr lang="en-US" sz="9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BDAE3AAC-FA86-0C84-1F67-1A394584DF4E}"/>
              </a:ext>
            </a:extLst>
          </p:cNvPr>
          <p:cNvSpPr/>
          <p:nvPr/>
        </p:nvSpPr>
        <p:spPr>
          <a:xfrm>
            <a:off x="0" y="822960"/>
            <a:ext cx="139279" cy="43205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F778CC11-3159-C818-7C29-8C42233B0D30}"/>
              </a:ext>
            </a:extLst>
          </p:cNvPr>
          <p:cNvSpPr/>
          <p:nvPr/>
        </p:nvSpPr>
        <p:spPr>
          <a:xfrm>
            <a:off x="365760" y="4032504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anchor="ctr"/>
          <a:lstStyle/>
          <a:p>
            <a:r>
              <a:rPr lang="es-ES" sz="1300" b="1" dirty="0"/>
              <a:t>Total de muestras de testeo</a:t>
            </a:r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BEC3A8A6-7F5C-B8A8-B588-A8C3A376260B}"/>
              </a:ext>
            </a:extLst>
          </p:cNvPr>
          <p:cNvSpPr/>
          <p:nvPr/>
        </p:nvSpPr>
        <p:spPr>
          <a:xfrm>
            <a:off x="3520440" y="41239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4.473</a:t>
            </a:r>
            <a:endParaRPr lang="en-US" sz="1800" dirty="0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5CBDB483-4415-B515-E2D6-7E4D2AD609CD}"/>
              </a:ext>
            </a:extLst>
          </p:cNvPr>
          <p:cNvSpPr/>
          <p:nvPr/>
        </p:nvSpPr>
        <p:spPr>
          <a:xfrm>
            <a:off x="5715000" y="411911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</a:rPr>
              <a:t>1.233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F234D-7580-768B-94B3-B5E5F4DEB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12">
            <a:extLst>
              <a:ext uri="{FF2B5EF4-FFF2-40B4-BE49-F238E27FC236}">
                <a16:creationId xmlns:a16="http://schemas.microsoft.com/office/drawing/2014/main" id="{FDF9FE39-8BA4-E0D4-FD7B-0BE4F0AC9DE1}"/>
              </a:ext>
            </a:extLst>
          </p:cNvPr>
          <p:cNvSpPr/>
          <p:nvPr/>
        </p:nvSpPr>
        <p:spPr>
          <a:xfrm>
            <a:off x="274320" y="4229099"/>
            <a:ext cx="7543800" cy="692497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2FC605B-E1E0-0907-4237-31C50261736F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DE6843-F9D8-FEB0-C28F-9AE127415587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· Desempeño Predictivo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10C246-9BF5-3725-057D-9F1268F36C84}"/>
              </a:ext>
            </a:extLst>
          </p:cNvPr>
          <p:cNvSpPr/>
          <p:nvPr/>
        </p:nvSpPr>
        <p:spPr>
          <a:xfrm>
            <a:off x="502920" y="914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Métrica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9C5F0EE-26D8-4E87-35D3-EC2C9C7596D4}"/>
              </a:ext>
            </a:extLst>
          </p:cNvPr>
          <p:cNvSpPr/>
          <p:nvPr/>
        </p:nvSpPr>
        <p:spPr>
          <a:xfrm>
            <a:off x="7818120" y="148132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2060262-2D70-3E58-FA82-8E4297440C37}"/>
              </a:ext>
            </a:extLst>
          </p:cNvPr>
          <p:cNvSpPr/>
          <p:nvPr/>
        </p:nvSpPr>
        <p:spPr>
          <a:xfrm>
            <a:off x="0" y="822960"/>
            <a:ext cx="139279" cy="43205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52F39F71-DB1A-AF95-1B64-C18282DA1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79" y="914400"/>
            <a:ext cx="7734089" cy="3225453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2363088C-E102-1966-7CF7-CD283954D683}"/>
              </a:ext>
            </a:extLst>
          </p:cNvPr>
          <p:cNvSpPr txBox="1"/>
          <p:nvPr/>
        </p:nvSpPr>
        <p:spPr>
          <a:xfrm>
            <a:off x="329358" y="4229100"/>
            <a:ext cx="78232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300" b="1" dirty="0"/>
              <a:t>Fortaleza: </a:t>
            </a:r>
            <a:r>
              <a:rPr lang="es-ES" sz="1300" b="1" dirty="0" err="1"/>
              <a:t>accuracy</a:t>
            </a:r>
            <a:endParaRPr lang="es-ES" sz="1300" b="1" dirty="0"/>
          </a:p>
          <a:p>
            <a:endParaRPr lang="es-ES" sz="13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300" b="1" dirty="0"/>
              <a:t>Debilidad: </a:t>
            </a:r>
            <a:r>
              <a:rPr lang="es-ES" sz="1300" b="1" dirty="0" err="1"/>
              <a:t>recall</a:t>
            </a:r>
            <a:r>
              <a:rPr lang="es-ES" sz="1300" b="1" dirty="0"/>
              <a:t> de informales</a:t>
            </a:r>
          </a:p>
        </p:txBody>
      </p:sp>
    </p:spTree>
    <p:extLst>
      <p:ext uri="{BB962C8B-B14F-4D97-AF65-F5344CB8AC3E}">
        <p14:creationId xmlns:p14="http://schemas.microsoft.com/office/powerpoint/2010/main" val="3314171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 · Recomendación a la Secretaría de Trabajo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83056"/>
            <a:ext cx="841248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5" name="Text 3"/>
          <p:cNvSpPr/>
          <p:nvPr/>
        </p:nvSpPr>
        <p:spPr>
          <a:xfrm>
            <a:off x="618279" y="1238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Usar el Modelo 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38912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419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Menor error tipo I (falsos positivos)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6791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Evita destinar fondos de formalización a personas que ya son </a:t>
            </a:r>
            <a:r>
              <a:rPr lang="en-US" sz="1050" dirty="0" err="1">
                <a:solidFill>
                  <a:srgbClr val="64748B"/>
                </a:solidFill>
              </a:rPr>
              <a:t>formales</a:t>
            </a:r>
            <a:r>
              <a:rPr lang="en-US" sz="1050" dirty="0">
                <a:solidFill>
                  <a:srgbClr val="64748B"/>
                </a:solidFill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035808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38912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3075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Mayor AUC-ROC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" y="332867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0.982 vs 0.962 — el Modelo 2 domina en toda la curva ROC, siendo mejor en todos los umbrales de decisión.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694176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38912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" y="3739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Mayor </a:t>
            </a:r>
            <a:r>
              <a:rPr lang="en-US" sz="1200" b="1" dirty="0" err="1">
                <a:solidFill>
                  <a:srgbClr val="0F172A"/>
                </a:solidFill>
              </a:rPr>
              <a:t>información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" y="39959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La incorporación de la columna de informalidad del 1T 2024 mejora la capacidad predictiva, a pesar de la menor muestra.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352544"/>
            <a:ext cx="841248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49224" y="4407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F172A"/>
                </a:solidFill>
              </a:rPr>
              <a:t>Advertencia</a:t>
            </a:r>
            <a:r>
              <a:rPr lang="en-US" sz="1200" b="1" dirty="0">
                <a:solidFill>
                  <a:srgbClr val="0F172A"/>
                </a:solidFill>
              </a:rPr>
              <a:t>: menor recall de informales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" y="46542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70% vs 80% — el Modelo 2 detecta menos informales reales.</a:t>
            </a:r>
            <a:endParaRPr lang="en-US" sz="105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FDAC9F3-BB22-016E-4010-4143716F00EB}"/>
              </a:ext>
            </a:extLst>
          </p:cNvPr>
          <p:cNvSpPr/>
          <p:nvPr/>
        </p:nvSpPr>
        <p:spPr>
          <a:xfrm>
            <a:off x="0" y="822960"/>
            <a:ext cx="139279" cy="43205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39670-FD9B-B13A-E2C8-41608AE4A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9F1617-503A-D9DB-05A5-AD51DA8D01E2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848536-46DC-5A21-89D6-8EC8A81C94A4}"/>
              </a:ext>
            </a:extLst>
          </p:cNvPr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 · Recomendación a la Secretaría de Trabajo</a:t>
            </a:r>
            <a:endParaRPr lang="en-US" sz="20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88443FF-7208-A4C4-13C0-7CE6310D3C07}"/>
              </a:ext>
            </a:extLst>
          </p:cNvPr>
          <p:cNvSpPr/>
          <p:nvPr/>
        </p:nvSpPr>
        <p:spPr>
          <a:xfrm>
            <a:off x="0" y="822960"/>
            <a:ext cx="139279" cy="43205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7661454-5FAD-B414-E12D-23364C78F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79" y="822960"/>
            <a:ext cx="4820071" cy="3356835"/>
          </a:xfrm>
          <a:prstGeom prst="rect">
            <a:avLst/>
          </a:prstGeom>
        </p:spPr>
      </p:pic>
      <p:sp>
        <p:nvSpPr>
          <p:cNvPr id="13" name="Shape 12">
            <a:extLst>
              <a:ext uri="{FF2B5EF4-FFF2-40B4-BE49-F238E27FC236}">
                <a16:creationId xmlns:a16="http://schemas.microsoft.com/office/drawing/2014/main" id="{6717111C-1B89-3263-CBA5-24A218B4C60B}"/>
              </a:ext>
            </a:extLst>
          </p:cNvPr>
          <p:cNvSpPr/>
          <p:nvPr/>
        </p:nvSpPr>
        <p:spPr>
          <a:xfrm>
            <a:off x="274320" y="4422956"/>
            <a:ext cx="7543800" cy="33655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FA1693F-EC4A-762E-1FA0-423D3B7ED1F1}"/>
              </a:ext>
            </a:extLst>
          </p:cNvPr>
          <p:cNvSpPr txBox="1"/>
          <p:nvPr/>
        </p:nvSpPr>
        <p:spPr>
          <a:xfrm>
            <a:off x="336550" y="4476454"/>
            <a:ext cx="7481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b="1" dirty="0"/>
              <a:t>Durante toda la curva el modelo 2 es superior</a:t>
            </a:r>
          </a:p>
        </p:txBody>
      </p:sp>
    </p:spTree>
    <p:extLst>
      <p:ext uri="{BB962C8B-B14F-4D97-AF65-F5344CB8AC3E}">
        <p14:creationId xmlns:p14="http://schemas.microsoft.com/office/powerpoint/2010/main" val="645815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539</Words>
  <Application>Microsoft Office PowerPoint</Application>
  <PresentationFormat>Presentación en pantalla (16:9)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TP4 - Clasificando Informales en la EPH</dc:title>
  <dc:subject>PptxGenJS Presentation</dc:subject>
  <dc:creator>PptxGenJS</dc:creator>
  <cp:lastModifiedBy>Cerrar Cuenta</cp:lastModifiedBy>
  <cp:revision>3</cp:revision>
  <dcterms:created xsi:type="dcterms:W3CDTF">2026-05-28T19:23:48Z</dcterms:created>
  <dcterms:modified xsi:type="dcterms:W3CDTF">2026-05-28T20:56:18Z</dcterms:modified>
</cp:coreProperties>
</file>